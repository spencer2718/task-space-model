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Embeddings and</a:t>
            </a:r>
            <a:endParaRPr lang="en-US" sz="32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Occupational Mobility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2468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Spencer Hodge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301752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Bagwell Center for the Study of Markets and Economic Opportunity</a:t>
            </a:r>
            <a:endParaRPr lang="en-US" sz="14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Kennesaw State University</a:t>
            </a:r>
            <a:endParaRPr lang="en-US" sz="14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Undergraduate Research Fellowship, 2025–26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200400" y="2926080"/>
            <a:ext cx="2743200" cy="0"/>
          </a:xfrm>
          <a:prstGeom prst="line">
            <a:avLst/>
          </a:prstGeom>
          <a:noFill/>
          <a:ln w="12700">
            <a:solidFill>
              <a:srgbClr val="4A7FB5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27432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technology is reshaping the labor market.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your job is disrupted, what can you switch to?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propose a way to answer that question, and a test for whether it works.</a:t>
            </a:r>
            <a:endParaRPr lang="en-US" sz="1400" dirty="0"/>
          </a:p>
        </p:txBody>
      </p:sp>
      <p:pic>
        <p:nvPicPr>
          <p:cNvPr id="6" name="Image 0" descr="../../figures/fig1_ai_expos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74720" y="822960"/>
            <a:ext cx="502920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a Sentence Embedding?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pic>
        <p:nvPicPr>
          <p:cNvPr id="5" name="Image 0" descr="../../figures/fig8_embedding_flow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914400"/>
            <a:ext cx="3474720" cy="3657600"/>
          </a:xfrm>
          <a:prstGeom prst="rect">
            <a:avLst/>
          </a:prstGeom>
        </p:spPr>
      </p:pic>
      <p:pic>
        <p:nvPicPr>
          <p:cNvPr id="6" name="Image 1" descr="../../figures/fig9_word_analog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240" y="914400"/>
            <a:ext cx="356616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Tasks in Semantic Space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256032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Embed 2,087 O*NET task descriptions into a continuous space (MPNet, 768d).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Represent each occupation as a distribution over embedded tasks.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Test against 89,329 observed job switches (CPS, 2015–2024).</a:t>
            </a:r>
            <a:endParaRPr lang="en-US" sz="1400" dirty="0"/>
          </a:p>
        </p:txBody>
      </p:sp>
      <p:pic>
        <p:nvPicPr>
          <p:cNvPr id="6" name="Image 0" descr="../../figures/fig3_task_scat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0400" y="914400"/>
            <a:ext cx="502920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Why Embeddings Matter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pic>
        <p:nvPicPr>
          <p:cNvPr id="5" name="Image 0" descr="../../figures/fig5_shared_dw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914400"/>
            <a:ext cx="3566160" cy="3657600"/>
          </a:xfrm>
          <a:prstGeom prst="rect">
            <a:avLst/>
          </a:prstGeom>
        </p:spPr>
      </p:pic>
      <p:pic>
        <p:nvPicPr>
          <p:cNvPr id="6" name="Image 1" descr="../../figures/fig6_embedding_similarit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914400"/>
            <a:ext cx="438912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Drives the Improvement?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Crossing two choices to isolate what drives predictive gain:</a:t>
            </a:r>
            <a:endParaRPr lang="en-US" sz="1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645920"/>
          <a:ext cx="7315200" cy="1645920"/>
        </p:xfrm>
        <a:graphic>
          <a:graphicData uri="http://schemas.openxmlformats.org/drawingml/2006/table">
            <a:tbl>
              <a:tblPr/>
              <a:tblGrid>
                <a:gridCol w="2011680"/>
                <a:gridCol w="2651760"/>
                <a:gridCol w="265176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i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Aggregation →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i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Representation ↓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7F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Centroid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7F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Distributional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7FB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O*NET weights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7F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Cosine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Euclidean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Text embeddings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7F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Centroid ★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Wasserstein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8"/>
                    </a:solidFill>
                  </a:tcPr>
                </a:tc>
              </a:tr>
            </a:tbl>
          </a:graphicData>
        </a:graphic>
      </p:graphicFrame>
      <p:pic>
        <p:nvPicPr>
          <p:cNvPr id="7" name="Image 0" descr="../../figures/fig_logit_eq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800" y="3291840"/>
            <a:ext cx="5486400" cy="80467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457200" y="42062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Conditional logit: each worker chooses among destinations weighted by semantic task similarity (α) and institutional proximity (β).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Result: Embeddings Dominate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pic>
        <p:nvPicPr>
          <p:cNvPr id="5" name="Image 0" descr="../../figures/fig2_pseudo_r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80" y="914400"/>
            <a:ext cx="5303520" cy="37490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0" y="182880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 × Centroid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0" y="2286000"/>
          <a:ext cx="3017520" cy="1097280"/>
        </p:xfrm>
        <a:graphic>
          <a:graphicData uri="http://schemas.openxmlformats.org/drawingml/2006/table">
            <a:tbl>
              <a:tblPr/>
              <a:tblGrid>
                <a:gridCol w="1188720"/>
                <a:gridCol w="914400"/>
                <a:gridCol w="822960"/>
              </a:tblGrid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Parameter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7F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Estimate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7F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t-stat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7FB5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α (semantic)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7.404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204.0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β (institutional)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5669280" y="3474720"/>
            <a:ext cx="3017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89,329 transitions</a:t>
            </a:r>
            <a:endParaRPr lang="en-US" sz="11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Pseudo-R² = 14.08%</a:t>
            </a:r>
            <a:endParaRPr lang="en-US" sz="11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Sampled alternatives (J = 11)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Measure Captures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384048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Supply-side feasibility, not demand.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Realized destinations ranked highly (MPR = 0.74).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 inflows are demand-dominated (ρ = 0.80 with BLS openings).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Orthogonal to AI exposure (r = −0.02) and routine task intensity (r = −0.06).</a:t>
            </a:r>
            <a:endParaRPr lang="en-US" sz="1400" dirty="0"/>
          </a:p>
        </p:txBody>
      </p:sp>
      <p:pic>
        <p:nvPicPr>
          <p:cNvPr id="6" name="Image 0" descr="../../figures/fig4_sco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0" y="1097280"/>
            <a:ext cx="3931920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Pathways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645920"/>
            <a:ext cx="2377440" cy="822960"/>
          </a:xfrm>
          <a:prstGeom prst="roundRect">
            <a:avLst>
              <a:gd name="adj" fmla="val 8889"/>
            </a:avLst>
          </a:prstGeom>
          <a:solidFill>
            <a:srgbClr val="E8F0F8"/>
          </a:solidFill>
          <a:ln w="15240">
            <a:solidFill>
              <a:srgbClr val="4A7FB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69164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 distance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205740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pseudo-R² = 14.1%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2697480"/>
            <a:ext cx="2377440" cy="822960"/>
          </a:xfrm>
          <a:prstGeom prst="roundRect">
            <a:avLst>
              <a:gd name="adj" fmla="val 8889"/>
            </a:avLst>
          </a:prstGeom>
          <a:solidFill>
            <a:srgbClr val="E8F0F8"/>
          </a:solidFill>
          <a:ln w="15240">
            <a:solidFill>
              <a:srgbClr val="4A7FB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274320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Institutional barriers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57200" y="310896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 = 33.7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3749040"/>
            <a:ext cx="2377440" cy="822960"/>
          </a:xfrm>
          <a:prstGeom prst="roundRect">
            <a:avLst>
              <a:gd name="adj" fmla="val 8889"/>
            </a:avLst>
          </a:prstGeom>
          <a:solidFill>
            <a:srgbClr val="E8F0F8"/>
          </a:solidFill>
          <a:ln w="15240">
            <a:solidFill>
              <a:srgbClr val="4A7FB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9476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across COVID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416052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= 0.72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926080" y="3108960"/>
            <a:ext cx="54864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  <a:tailEnd type="triangle"/>
          </a:ln>
        </p:spPr>
      </p:sp>
      <p:sp>
        <p:nvSpPr>
          <p:cNvPr id="16" name="Text 14"/>
          <p:cNvSpPr/>
          <p:nvPr/>
        </p:nvSpPr>
        <p:spPr>
          <a:xfrm>
            <a:off x="3657600" y="109728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Extensions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3657600" y="1645920"/>
            <a:ext cx="4846320" cy="640080"/>
          </a:xfrm>
          <a:prstGeom prst="roundRect">
            <a:avLst>
              <a:gd name="adj" fmla="val 11429"/>
            </a:avLst>
          </a:prstGeom>
          <a:solidFill>
            <a:srgbClr val="FAFAFA"/>
          </a:solidFill>
          <a:ln w="10160">
            <a:solidFill>
              <a:srgbClr val="CCCCCC"/>
            </a:solidFill>
            <a:prstDash val="dash"/>
          </a:ln>
        </p:spPr>
      </p:sp>
      <p:sp>
        <p:nvSpPr>
          <p:cNvPr id="18" name="Text 16"/>
          <p:cNvSpPr/>
          <p:nvPr/>
        </p:nvSpPr>
        <p:spPr>
          <a:xfrm>
            <a:off x="3794760" y="169164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 integration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486400" y="169164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 with vacancy data to predict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realized flows, not just feasibility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657600" y="2423160"/>
            <a:ext cx="4846320" cy="640080"/>
          </a:xfrm>
          <a:prstGeom prst="roundRect">
            <a:avLst>
              <a:gd name="adj" fmla="val 11429"/>
            </a:avLst>
          </a:prstGeom>
          <a:solidFill>
            <a:srgbClr val="FAFAFA"/>
          </a:solidFill>
          <a:ln w="10160">
            <a:solidFill>
              <a:srgbClr val="CCCCCC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794760" y="246888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 wage data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486400" y="246888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actual wage penalties for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switchers with individual-level data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657600" y="3200400"/>
            <a:ext cx="4846320" cy="640080"/>
          </a:xfrm>
          <a:prstGeom prst="roundRect">
            <a:avLst>
              <a:gd name="adj" fmla="val 11429"/>
            </a:avLst>
          </a:prstGeom>
          <a:solidFill>
            <a:srgbClr val="FAFAFA"/>
          </a:solidFill>
          <a:ln w="10160">
            <a:solidFill>
              <a:srgbClr val="CCCCCC"/>
            </a:solidFill>
            <a:prstDash val="dash"/>
          </a:ln>
        </p:spPr>
      </p:sp>
      <p:sp>
        <p:nvSpPr>
          <p:cNvPr id="24" name="Text 22"/>
          <p:cNvSpPr/>
          <p:nvPr/>
        </p:nvSpPr>
        <p:spPr>
          <a:xfrm>
            <a:off x="3794760" y="324612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 task content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486400" y="324612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how occupations’ task profiles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recompose as technology diffuses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657600" y="3977640"/>
            <a:ext cx="4846320" cy="640080"/>
          </a:xfrm>
          <a:prstGeom prst="roundRect">
            <a:avLst>
              <a:gd name="adj" fmla="val 11429"/>
            </a:avLst>
          </a:prstGeom>
          <a:solidFill>
            <a:srgbClr val="FAFAFA"/>
          </a:solidFill>
          <a:ln w="10160">
            <a:solidFill>
              <a:srgbClr val="CCCCCC"/>
            </a:solidFill>
            <a:prstDash val="dash"/>
          </a:ln>
        </p:spPr>
      </p:sp>
      <p:sp>
        <p:nvSpPr>
          <p:cNvPr id="27" name="Text 25"/>
          <p:cNvSpPr/>
          <p:nvPr/>
        </p:nvSpPr>
        <p:spPr>
          <a:xfrm>
            <a:off x="3794760" y="402336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 shock modeling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486400" y="402336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AI exposure as a function of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embeddings, not static scores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Embeddings improve transition prediction by 74.9% over O*NET baselines (pseudo-R²: 14.1% vs. 6–8%).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gain is from the embedding representation, not the aggregation method.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Captures within-origin pathway feasibility, not aggregate allocation.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Orthogonal to AI exposure (r = −0.02) and routine task intensity (r = −0.06).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pre/post COVID (Δα &lt; 1%, p = 0.72).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27432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16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Spencer Hodge</a:t>
            </a:r>
            <a:endParaRPr lang="en-US" sz="16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16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shodge33@students.kennesaw.edu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3657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A7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&amp; data: github.com/spencer2718/task-space-model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200400" y="2606040"/>
            <a:ext cx="2743200" cy="0"/>
          </a:xfrm>
          <a:prstGeom prst="line">
            <a:avLst/>
          </a:prstGeom>
          <a:noFill/>
          <a:ln w="12700">
            <a:solidFill>
              <a:srgbClr val="4A7FB5"/>
            </a:solidFill>
            <a:prstDash val="solid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Pipeline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B1</a:t>
            </a:r>
            <a:endParaRPr lang="en-US" sz="1000" dirty="0"/>
          </a:p>
        </p:txBody>
      </p:sp>
      <p:pic>
        <p:nvPicPr>
          <p:cNvPr id="5" name="Image 0" descr="../../figures/fig7_sankey_pipe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914400"/>
            <a:ext cx="8229600" cy="384048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 Embeddings and Occupational Mobility</dc:title>
  <dc:subject>PptxGenJS Presentation</dc:subject>
  <dc:creator>Spencer Hodge</dc:creator>
  <cp:lastModifiedBy>Spencer Hodge</cp:lastModifiedBy>
  <cp:revision>1</cp:revision>
  <dcterms:created xsi:type="dcterms:W3CDTF">2026-03-14T22:02:13Z</dcterms:created>
  <dcterms:modified xsi:type="dcterms:W3CDTF">2026-03-14T22:02:13Z</dcterms:modified>
</cp:coreProperties>
</file>